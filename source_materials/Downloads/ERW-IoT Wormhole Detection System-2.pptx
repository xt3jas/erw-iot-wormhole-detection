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Nunito"/>
      <p:regular r:id="rId14"/>
      <p:bold r:id="rId15"/>
      <p:italic r:id="rId16"/>
      <p:boldItalic r:id="rId17"/>
    </p:embeddedFont>
    <p:embeddedFont>
      <p:font typeface="Plus Jakarta Sans"/>
      <p:regular r:id="rId18"/>
      <p:bold r:id="rId19"/>
      <p:italic r:id="rId20"/>
      <p:boldItalic r:id="rId21"/>
    </p:embeddedFont>
    <p:embeddedFont>
      <p:font typeface="Maven Pro"/>
      <p:regular r:id="rId22"/>
      <p:bold r:id="rId23"/>
    </p:embeddedFont>
    <p:embeddedFont>
      <p:font typeface="Space Grotesk SemiBold"/>
      <p:regular r:id="rId24"/>
      <p:bold r:id="rId25"/>
    </p:embeddedFont>
    <p:embeddedFont>
      <p:font typeface="Space Grotesk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italic.fntdata"/><Relationship Id="rId22" Type="http://schemas.openxmlformats.org/officeDocument/2006/relationships/font" Target="fonts/MavenPro-regular.fntdata"/><Relationship Id="rId21" Type="http://schemas.openxmlformats.org/officeDocument/2006/relationships/font" Target="fonts/PlusJakartaSans-boldItalic.fntdata"/><Relationship Id="rId24" Type="http://schemas.openxmlformats.org/officeDocument/2006/relationships/font" Target="fonts/SpaceGroteskSemiBold-regular.fntdata"/><Relationship Id="rId23" Type="http://schemas.openxmlformats.org/officeDocument/2006/relationships/font" Target="fonts/MavenPr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paceGrotesk-regular.fntdata"/><Relationship Id="rId25" Type="http://schemas.openxmlformats.org/officeDocument/2006/relationships/font" Target="fonts/SpaceGroteskSemiBold-bold.fntdata"/><Relationship Id="rId27" Type="http://schemas.openxmlformats.org/officeDocument/2006/relationships/font" Target="fonts/SpaceGrotes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19" Type="http://schemas.openxmlformats.org/officeDocument/2006/relationships/font" Target="fonts/PlusJakartaSans-bold.fntdata"/><Relationship Id="rId18" Type="http://schemas.openxmlformats.org/officeDocument/2006/relationships/font" Target="fonts/PlusJakarta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0" name="Google Shape;39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1" name="Google Shape;4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8" name="Google Shape;4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3"/>
          <p:cNvGrpSpPr/>
          <p:nvPr/>
        </p:nvGrpSpPr>
        <p:grpSpPr>
          <a:xfrm>
            <a:off x="9790426" y="4546120"/>
            <a:ext cx="2255173" cy="2310006"/>
            <a:chOff x="7343003" y="3409675"/>
            <a:chExt cx="1691422" cy="1732548"/>
          </a:xfrm>
        </p:grpSpPr>
        <p:grpSp>
          <p:nvGrpSpPr>
            <p:cNvPr id="13" name="Google Shape;13;p3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14" name="Google Shape;14;p3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3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" name="Google Shape;16;p3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7" name="Google Shape;17;p3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3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3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" name="Google Shape;20;p3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21" name="Google Shape;21;p3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3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" name="Google Shape;25;p3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6" name="Google Shape;26;p3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1" name="Google Shape;31;p3"/>
          <p:cNvGrpSpPr/>
          <p:nvPr/>
        </p:nvGrpSpPr>
        <p:grpSpPr>
          <a:xfrm>
            <a:off x="6724502" y="0"/>
            <a:ext cx="5085303" cy="5118674"/>
            <a:chOff x="5043503" y="0"/>
            <a:chExt cx="3814072" cy="3839102"/>
          </a:xfrm>
        </p:grpSpPr>
        <p:sp>
          <p:nvSpPr>
            <p:cNvPr id="32" name="Google Shape;32;p3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" name="Google Shape;34;p3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5" name="Google Shape;35;p3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" name="Google Shape;38;p3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" name="Google Shape;39;p3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40" name="Google Shape;40;p3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" name="Google Shape;42;p3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" name="Google Shape;48;p3"/>
          <p:cNvSpPr txBox="1"/>
          <p:nvPr>
            <p:ph type="ctrTitle"/>
          </p:nvPr>
        </p:nvSpPr>
        <p:spPr>
          <a:xfrm>
            <a:off x="1098667" y="2151750"/>
            <a:ext cx="5673900" cy="24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1098667" y="4795067"/>
            <a:ext cx="5673900" cy="9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3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195687" y="4541"/>
            <a:ext cx="1644244" cy="1846001"/>
            <a:chOff x="146769" y="3406"/>
            <a:chExt cx="1233214" cy="1384535"/>
          </a:xfrm>
        </p:grpSpPr>
        <p:grpSp>
          <p:nvGrpSpPr>
            <p:cNvPr id="53" name="Google Shape;53;p4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4" name="Google Shape;54;p4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" name="Google Shape;56;p4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7" name="Google Shape;57;p4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" name="Google Shape;60;p4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1" name="Google Shape;61;p4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5" name="Google Shape;65;p4"/>
          <p:cNvGrpSpPr/>
          <p:nvPr/>
        </p:nvGrpSpPr>
        <p:grpSpPr>
          <a:xfrm>
            <a:off x="9033219" y="3871914"/>
            <a:ext cx="2914790" cy="2985925"/>
            <a:chOff x="6775084" y="2904008"/>
            <a:chExt cx="2186147" cy="2239500"/>
          </a:xfrm>
        </p:grpSpPr>
        <p:grpSp>
          <p:nvGrpSpPr>
            <p:cNvPr id="66" name="Google Shape;66;p4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7" name="Google Shape;67;p4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70" name="Google Shape;70;p4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4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73;p4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4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9" name="Google Shape;79;p4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4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4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4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4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4" name="Google Shape;84;p4"/>
          <p:cNvSpPr txBox="1"/>
          <p:nvPr>
            <p:ph type="title"/>
          </p:nvPr>
        </p:nvSpPr>
        <p:spPr>
          <a:xfrm>
            <a:off x="1098667" y="2151767"/>
            <a:ext cx="7810500" cy="24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4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5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88" name="Google Shape;88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5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1" name="Google Shape;91;p5"/>
          <p:cNvSpPr txBox="1"/>
          <p:nvPr>
            <p:ph idx="1" type="body"/>
          </p:nvPr>
        </p:nvSpPr>
        <p:spPr>
          <a:xfrm>
            <a:off x="1738400" y="2653400"/>
            <a:ext cx="93741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2" name="Google Shape;92;p5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6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95" name="Google Shape;95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6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8" name="Google Shape;98;p6"/>
          <p:cNvSpPr txBox="1"/>
          <p:nvPr>
            <p:ph idx="1" type="body"/>
          </p:nvPr>
        </p:nvSpPr>
        <p:spPr>
          <a:xfrm>
            <a:off x="1738400" y="2653400"/>
            <a:ext cx="45741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9" name="Google Shape;99;p6"/>
          <p:cNvSpPr txBox="1"/>
          <p:nvPr>
            <p:ph idx="2" type="body"/>
          </p:nvPr>
        </p:nvSpPr>
        <p:spPr>
          <a:xfrm>
            <a:off x="6538200" y="2653400"/>
            <a:ext cx="45741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00" name="Google Shape;100;p6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7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03" name="Google Shape;103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7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6" name="Google Shape;106;p7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8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09" name="Google Shape;109;p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8"/>
          <p:cNvSpPr txBox="1"/>
          <p:nvPr>
            <p:ph type="title"/>
          </p:nvPr>
        </p:nvSpPr>
        <p:spPr>
          <a:xfrm>
            <a:off x="1738400" y="798100"/>
            <a:ext cx="4416000" cy="21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1" type="body"/>
          </p:nvPr>
        </p:nvSpPr>
        <p:spPr>
          <a:xfrm>
            <a:off x="1738400" y="3079567"/>
            <a:ext cx="4416000" cy="29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9"/>
          <p:cNvGrpSpPr/>
          <p:nvPr/>
        </p:nvGrpSpPr>
        <p:grpSpPr>
          <a:xfrm>
            <a:off x="9155392" y="1675"/>
            <a:ext cx="3023097" cy="3468901"/>
            <a:chOff x="6790514" y="1255"/>
            <a:chExt cx="2267380" cy="2601741"/>
          </a:xfrm>
        </p:grpSpPr>
        <p:grpSp>
          <p:nvGrpSpPr>
            <p:cNvPr id="116" name="Google Shape;116;p9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117" name="Google Shape;117;p9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9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9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" name="Google Shape;120;p9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121" name="Google Shape;121;p9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9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9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" name="Google Shape;124;p9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5" name="Google Shape;125;p9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9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7" name="Google Shape;127;p9"/>
          <p:cNvSpPr txBox="1"/>
          <p:nvPr>
            <p:ph type="title"/>
          </p:nvPr>
        </p:nvSpPr>
        <p:spPr>
          <a:xfrm>
            <a:off x="1098667" y="1018133"/>
            <a:ext cx="7810500" cy="47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0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31" name="Google Shape;131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10"/>
          <p:cNvSpPr txBox="1"/>
          <p:nvPr>
            <p:ph type="title"/>
          </p:nvPr>
        </p:nvSpPr>
        <p:spPr>
          <a:xfrm>
            <a:off x="1738400" y="798100"/>
            <a:ext cx="4574100" cy="265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1" type="subTitle"/>
          </p:nvPr>
        </p:nvSpPr>
        <p:spPr>
          <a:xfrm>
            <a:off x="1738400" y="3657604"/>
            <a:ext cx="4574100" cy="968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5" name="Google Shape;135;p10"/>
          <p:cNvSpPr txBox="1"/>
          <p:nvPr>
            <p:ph idx="2" type="body"/>
          </p:nvPr>
        </p:nvSpPr>
        <p:spPr>
          <a:xfrm>
            <a:off x="6538267" y="881333"/>
            <a:ext cx="4574100" cy="5160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36" name="Google Shape;136;p10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11"/>
          <p:cNvGrpSpPr/>
          <p:nvPr/>
        </p:nvGrpSpPr>
        <p:grpSpPr>
          <a:xfrm>
            <a:off x="951176" y="5129497"/>
            <a:ext cx="1100560" cy="1100560"/>
            <a:chOff x="348199" y="179450"/>
            <a:chExt cx="1116300" cy="1116300"/>
          </a:xfrm>
        </p:grpSpPr>
        <p:sp>
          <p:nvSpPr>
            <p:cNvPr id="139" name="Google Shape;139;p1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11"/>
          <p:cNvSpPr txBox="1"/>
          <p:nvPr>
            <p:ph idx="1" type="body"/>
          </p:nvPr>
        </p:nvSpPr>
        <p:spPr>
          <a:xfrm>
            <a:off x="1738400" y="5518633"/>
            <a:ext cx="7790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42" name="Google Shape;142;p11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2"/>
          <p:cNvGrpSpPr/>
          <p:nvPr/>
        </p:nvGrpSpPr>
        <p:grpSpPr>
          <a:xfrm>
            <a:off x="69" y="5465463"/>
            <a:ext cx="12191743" cy="1392365"/>
            <a:chOff x="52" y="4099200"/>
            <a:chExt cx="9144036" cy="1044300"/>
          </a:xfrm>
        </p:grpSpPr>
        <p:grpSp>
          <p:nvGrpSpPr>
            <p:cNvPr id="145" name="Google Shape;145;p12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6" name="Google Shape;146;p1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0" name="Google Shape;150;p12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51" name="Google Shape;151;p1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2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" name="Google Shape;156;p12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7" name="Google Shape;157;p1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1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1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12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2" name="Google Shape;162;p1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1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" name="Google Shape;165;p12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6" name="Google Shape;166;p12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2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2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2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2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" name="Google Shape;171;p12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2" name="Google Shape;172;p12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2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2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2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" name="Google Shape;176;p12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7" name="Google Shape;177;p12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12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12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" name="Google Shape;180;p12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81" name="Google Shape;181;p12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12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12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12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12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" name="Google Shape;186;p12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7" name="Google Shape;187;p12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2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12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2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p12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2" name="Google Shape;192;p12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2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2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2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6" name="Google Shape;196;p12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7" name="Google Shape;197;p12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12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12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200;p12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01" name="Google Shape;201;p12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12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12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12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" name="Google Shape;205;p12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6" name="Google Shape;206;p12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2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12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12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210;p12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11" name="Google Shape;211;p12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12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2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2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12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" name="Google Shape;216;p12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7" name="Google Shape;217;p12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2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2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2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" name="Google Shape;221;p12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2" name="Google Shape;222;p12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2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12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5" name="Google Shape;225;p12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6" name="Google Shape;226;p12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12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12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12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0" name="Google Shape;230;p12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31" name="Google Shape;231;p12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12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12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12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12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6" name="Google Shape;236;p12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7" name="Google Shape;237;p12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12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12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12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1" name="Google Shape;241;p12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2" name="Google Shape;242;p12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12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2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5" name="Google Shape;245;p12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6" name="Google Shape;246;p12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2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12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12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12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1" name="Google Shape;251;p12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2" name="Google Shape;252;p12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12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12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12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6" name="Google Shape;256;p12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7" name="Google Shape;257;p12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12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12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12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1" name="Google Shape;261;p12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2" name="Google Shape;262;p12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12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12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5" name="Google Shape;265;p12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6" name="Google Shape;266;p12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12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12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12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0" name="Google Shape;270;p12"/>
          <p:cNvSpPr txBox="1"/>
          <p:nvPr>
            <p:ph hasCustomPrompt="1" type="title"/>
          </p:nvPr>
        </p:nvSpPr>
        <p:spPr>
          <a:xfrm>
            <a:off x="1851500" y="1030300"/>
            <a:ext cx="8489100" cy="24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12"/>
          <p:cNvSpPr txBox="1"/>
          <p:nvPr>
            <p:ph idx="1" type="body"/>
          </p:nvPr>
        </p:nvSpPr>
        <p:spPr>
          <a:xfrm>
            <a:off x="1851500" y="3616400"/>
            <a:ext cx="8489100" cy="14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Nunito"/>
              <a:buChar char="●"/>
              <a:defRPr b="0" i="0" sz="1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11" Type="http://schemas.openxmlformats.org/officeDocument/2006/relationships/image" Target="../media/image8.png"/><Relationship Id="rId10" Type="http://schemas.openxmlformats.org/officeDocument/2006/relationships/image" Target="../media/image12.png"/><Relationship Id="rId9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9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32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3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35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43.png"/><Relationship Id="rId13" Type="http://schemas.openxmlformats.org/officeDocument/2006/relationships/image" Target="../media/image26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3.png"/><Relationship Id="rId9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9.png"/><Relationship Id="rId5" Type="http://schemas.openxmlformats.org/officeDocument/2006/relationships/image" Target="../media/image30.png"/><Relationship Id="rId6" Type="http://schemas.openxmlformats.org/officeDocument/2006/relationships/image" Target="../media/image27.png"/><Relationship Id="rId7" Type="http://schemas.openxmlformats.org/officeDocument/2006/relationships/image" Target="../media/image31.png"/><Relationship Id="rId8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38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9.png"/><Relationship Id="rId9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28.png"/><Relationship Id="rId7" Type="http://schemas.openxmlformats.org/officeDocument/2006/relationships/image" Target="../media/image44.png"/><Relationship Id="rId8" Type="http://schemas.openxmlformats.org/officeDocument/2006/relationships/image" Target="../media/image4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6.png"/><Relationship Id="rId7" Type="http://schemas.openxmlformats.org/officeDocument/2006/relationships/image" Target="../media/image45.png"/><Relationship Id="rId8" Type="http://schemas.openxmlformats.org/officeDocument/2006/relationships/image" Target="../media/image47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hyperlink" Target="https://doi.org/10.3390/info14090478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hyperlink" Target="https://www.ni.com/en/shop/labview.html" TargetMode="External"/><Relationship Id="rId9" Type="http://schemas.openxmlformats.org/officeDocument/2006/relationships/hyperlink" Target="https://doi.org/10.3390/s22186765" TargetMode="External"/><Relationship Id="rId5" Type="http://schemas.openxmlformats.org/officeDocument/2006/relationships/hyperlink" Target="https://www.ni.com/docs/en-US/bundle/labview-api-ref/page/functions/script-node.html" TargetMode="External"/><Relationship Id="rId6" Type="http://schemas.openxmlformats.org/officeDocument/2006/relationships/hyperlink" Target="https://www.ietf.org/archive/id/draft-ietf-roll-rpl-13.html" TargetMode="External"/><Relationship Id="rId7" Type="http://schemas.openxmlformats.org/officeDocument/2006/relationships/hyperlink" Target="https://doi.org/10.1016/j.comnet.2025.111968" TargetMode="External"/><Relationship Id="rId8" Type="http://schemas.openxmlformats.org/officeDocument/2006/relationships/hyperlink" Target="https://doi.org/10.1016/j.cose.2020.101849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3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9075" y="1789807"/>
            <a:ext cx="413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43225" y="4687192"/>
            <a:ext cx="20669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62550" y="4687192"/>
            <a:ext cx="2095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10450" y="4687192"/>
            <a:ext cx="18383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3"/>
          <p:cNvSpPr txBox="1"/>
          <p:nvPr/>
        </p:nvSpPr>
        <p:spPr>
          <a:xfrm>
            <a:off x="1095375" y="2361307"/>
            <a:ext cx="10001250" cy="118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ERW-IoT: Real-Time Wormhole Attack Detection Engine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2190750" y="3734692"/>
            <a:ext cx="781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Shravan 24BEI0104</a:t>
            </a:r>
            <a:endParaRPr b="0" i="0" sz="1500" u="none" cap="none" strike="noStrike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Tejas 24BEI0093</a:t>
            </a:r>
            <a:endParaRPr b="0" i="0" sz="1500" u="none" cap="none" strike="noStrike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Eklavya 24BEI0084</a:t>
            </a:r>
            <a:endParaRPr b="0" i="0" sz="1500" u="none" cap="none" strike="noStrike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284" name="Google Shape;28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29100" y="1904107"/>
            <a:ext cx="147637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43250" y="4811017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62575" y="4811017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10475" y="4811017"/>
            <a:ext cx="1714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490662"/>
            <a:ext cx="532447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4"/>
          <p:cNvSpPr/>
          <p:nvPr/>
        </p:nvSpPr>
        <p:spPr>
          <a:xfrm>
            <a:off x="581025" y="1528762"/>
            <a:ext cx="5324475" cy="1009650"/>
          </a:xfrm>
          <a:prstGeom prst="roundRect">
            <a:avLst>
              <a:gd fmla="val 11320" name="adj"/>
            </a:avLst>
          </a:prstGeom>
          <a:solidFill>
            <a:srgbClr val="1E293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581025" y="2690812"/>
            <a:ext cx="5324475" cy="1009650"/>
          </a:xfrm>
          <a:prstGeom prst="roundRect">
            <a:avLst>
              <a:gd fmla="val 11320" name="adj"/>
            </a:avLst>
          </a:prstGeom>
          <a:solidFill>
            <a:srgbClr val="1E293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581025" y="3852862"/>
            <a:ext cx="5324475" cy="1009650"/>
          </a:xfrm>
          <a:prstGeom prst="roundRect">
            <a:avLst>
              <a:gd fmla="val 11320" name="adj"/>
            </a:avLst>
          </a:prstGeom>
          <a:solidFill>
            <a:srgbClr val="1E293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581025" y="5014912"/>
            <a:ext cx="5324475" cy="1009650"/>
          </a:xfrm>
          <a:prstGeom prst="roundRect">
            <a:avLst>
              <a:gd fmla="val 11320" name="adj"/>
            </a:avLst>
          </a:prstGeom>
          <a:solidFill>
            <a:srgbClr val="1E293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8" name="Google Shape;2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0325" y="1614487"/>
            <a:ext cx="5076825" cy="432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4"/>
          <p:cNvSpPr/>
          <p:nvPr/>
        </p:nvSpPr>
        <p:spPr>
          <a:xfrm>
            <a:off x="581025" y="2528887"/>
            <a:ext cx="53244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 txBox="1"/>
          <p:nvPr/>
        </p:nvSpPr>
        <p:spPr>
          <a:xfrm>
            <a:off x="1104900" y="1690687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ERW-IoT Engine Integration: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Introduce ERW-IoT to provide real-time wormhole detection via lightweight path consistency checks without heavy cryptographic overhead.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581025" y="3690937"/>
            <a:ext cx="53244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 txBox="1"/>
          <p:nvPr/>
        </p:nvSpPr>
        <p:spPr>
          <a:xfrm>
            <a:off x="1104900" y="2852737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Wormhole Attack Mitigation: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Identify deceptive shortcut routes created by covert attacker tunnels linking geographically distant network nodes.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581025" y="4852987"/>
            <a:ext cx="53244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 txBox="1"/>
          <p:nvPr/>
        </p:nvSpPr>
        <p:spPr>
          <a:xfrm>
            <a:off x="1104900" y="4014787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Physical Consistency Bounds: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Evaluate hop count vs transmission latency bounds to determine if proposed routes make physical sense.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581025" y="6015037"/>
            <a:ext cx="53244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 txBox="1"/>
          <p:nvPr/>
        </p:nvSpPr>
        <p:spPr>
          <a:xfrm>
            <a:off x="1104900" y="5176837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Closed-Loop Operator Dashboard: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Provide immediate visual alarm notifications and topology map updates for human operators upon anomaly detection.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7" name="Google Shape;3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050" y="17049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28670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1050" y="40290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1050" y="519112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4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Aim &amp; 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7" name="Google Shape;3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5"/>
          <p:cNvSpPr txBox="1"/>
          <p:nvPr/>
        </p:nvSpPr>
        <p:spPr>
          <a:xfrm>
            <a:off x="581025" y="485775"/>
            <a:ext cx="5790723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Overall Block Diagram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0" name="Google Shape;3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5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581025" y="2119312"/>
            <a:ext cx="5514975" cy="1009650"/>
          </a:xfrm>
          <a:prstGeom prst="roundRect">
            <a:avLst>
              <a:gd fmla="val 11320" name="adj"/>
            </a:avLst>
          </a:prstGeom>
          <a:solidFill>
            <a:srgbClr val="1E293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581025" y="3281362"/>
            <a:ext cx="5514975" cy="1009650"/>
          </a:xfrm>
          <a:prstGeom prst="roundRect">
            <a:avLst>
              <a:gd fmla="val 11320" name="adj"/>
            </a:avLst>
          </a:prstGeom>
          <a:solidFill>
            <a:srgbClr val="1E293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581025" y="4443412"/>
            <a:ext cx="5514975" cy="1009650"/>
          </a:xfrm>
          <a:prstGeom prst="roundRect">
            <a:avLst>
              <a:gd fmla="val 11320" name="adj"/>
            </a:avLst>
          </a:prstGeom>
          <a:solidFill>
            <a:srgbClr val="1E293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581025" y="3119437"/>
            <a:ext cx="55149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 txBox="1"/>
          <p:nvPr/>
        </p:nvSpPr>
        <p:spPr>
          <a:xfrm>
            <a:off x="1104900" y="2281237"/>
            <a:ext cx="47910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LabVIEW Front-End Host: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Captures live CSV telemetry via Packet Logger, displays real-time topology map, and controls visual alarm state.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581025" y="4281487"/>
            <a:ext cx="55149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 txBox="1"/>
          <p:nvPr/>
        </p:nvSpPr>
        <p:spPr>
          <a:xfrm>
            <a:off x="1152525" y="3443287"/>
            <a:ext cx="4743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MATLAB Engine Brain: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Runs mobility/fading models, evaluates candidate path changes, and updates dynamic threshold reset logic.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581025" y="5443537"/>
            <a:ext cx="55149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 txBox="1"/>
          <p:nvPr/>
        </p:nvSpPr>
        <p:spPr>
          <a:xfrm>
            <a:off x="1104900" y="4605337"/>
            <a:ext cx="47910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Proposed ERW-IoT Module: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Intercepts path reroutes to perform physical consistency checks before updating alert thresholds or topology maps.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31" name="Google Shape;33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050" y="22955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345757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1050" y="461962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8" name="Google Shape;3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28825"/>
            <a:ext cx="5419725" cy="16525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028825"/>
            <a:ext cx="5419725" cy="16525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871912"/>
            <a:ext cx="5419725" cy="16525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3871912"/>
            <a:ext cx="5419725" cy="1652587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6"/>
          <p:cNvSpPr txBox="1"/>
          <p:nvPr/>
        </p:nvSpPr>
        <p:spPr>
          <a:xfrm>
            <a:off x="819150" y="2800350"/>
            <a:ext cx="49434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Wireless networks rely on dynamic routing tables containing destination address, next hop, and distance metrics to continuously establish optimal packet forwarding paths across active nodes.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6"/>
          <p:cNvSpPr txBox="1"/>
          <p:nvPr/>
        </p:nvSpPr>
        <p:spPr>
          <a:xfrm>
            <a:off x="6429375" y="2800350"/>
            <a:ext cx="49434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Includes propagation delay, queueing delay, and processing time. In legitimate hop-by-hop wireless links, cumulative latency scales proportionally with the physical distance and hop count.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6"/>
          <p:cNvSpPr txBox="1"/>
          <p:nvPr/>
        </p:nvSpPr>
        <p:spPr>
          <a:xfrm>
            <a:off x="819150" y="4643437"/>
            <a:ext cx="49434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Destination-Oriented Directed Acyclic Graph structured by RPL protocol for low-power and lossy networks (6LoWPAN). Nodes dynamically select preferred parent nodes based on rank and link cost.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6"/>
          <p:cNvSpPr txBox="1"/>
          <p:nvPr/>
        </p:nvSpPr>
        <p:spPr>
          <a:xfrm>
            <a:off x="6429375" y="4643437"/>
            <a:ext cx="49434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Adversaries tunnel packets between distant network areas through an out-of-band link, creating an illusion of a short high-quality route to disrupt routing trees and intercept sensitive traffic.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47" name="Google Shape;3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226695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6"/>
          <p:cNvSpPr txBox="1"/>
          <p:nvPr/>
        </p:nvSpPr>
        <p:spPr>
          <a:xfrm>
            <a:off x="1371600" y="2352675"/>
            <a:ext cx="275034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Computer Networks &amp; Tables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49" name="Google Shape;34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9375" y="226695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6"/>
          <p:cNvSpPr txBox="1"/>
          <p:nvPr/>
        </p:nvSpPr>
        <p:spPr>
          <a:xfrm>
            <a:off x="6981825" y="2352675"/>
            <a:ext cx="242030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Network Latency Bounds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51" name="Google Shape;35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411003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6"/>
          <p:cNvSpPr txBox="1"/>
          <p:nvPr/>
        </p:nvSpPr>
        <p:spPr>
          <a:xfrm>
            <a:off x="1371600" y="4195762"/>
            <a:ext cx="175021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DODAG in RPL / IoT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53" name="Google Shape;35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29375" y="411003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6"/>
          <p:cNvSpPr txBox="1"/>
          <p:nvPr/>
        </p:nvSpPr>
        <p:spPr>
          <a:xfrm>
            <a:off x="6981825" y="4195762"/>
            <a:ext cx="231028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Wormhole Attacks in IoT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55" name="Google Shape;35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9637" y="238125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53200" y="23812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19162" y="422433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43675" y="422433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6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Theoretical Background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5" name="Google Shape;3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71750"/>
            <a:ext cx="2643187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6612" y="2571750"/>
            <a:ext cx="2643187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2571750"/>
            <a:ext cx="2643187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67787" y="2571750"/>
            <a:ext cx="2643187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" y="28098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76637" y="28098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2225" y="28098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67812" y="280987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7"/>
          <p:cNvSpPr txBox="1"/>
          <p:nvPr/>
        </p:nvSpPr>
        <p:spPr>
          <a:xfrm>
            <a:off x="781050" y="3305175"/>
            <a:ext cx="235529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Packet Logging &amp; Telemetry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7"/>
          <p:cNvSpPr txBox="1"/>
          <p:nvPr/>
        </p:nvSpPr>
        <p:spPr>
          <a:xfrm>
            <a:off x="781050" y="3838575"/>
            <a:ext cx="2243137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Packet Logger records continuous raw wireless telemetry, formatting network events into a CSV stream passed into the processing pipeline.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7"/>
          <p:cNvSpPr txBox="1"/>
          <p:nvPr/>
        </p:nvSpPr>
        <p:spPr>
          <a:xfrm>
            <a:off x="3576637" y="3305175"/>
            <a:ext cx="235529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Fading &amp; Path Evaluation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7"/>
          <p:cNvSpPr txBox="1"/>
          <p:nvPr/>
        </p:nvSpPr>
        <p:spPr>
          <a:xfrm>
            <a:off x="3576637" y="3619500"/>
            <a:ext cx="224313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Mobility model calculates link fading dynamics as nodes move, triggering Path Change Evaluation to suggest updated optimal routes.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7"/>
          <p:cNvSpPr txBox="1"/>
          <p:nvPr/>
        </p:nvSpPr>
        <p:spPr>
          <a:xfrm>
            <a:off x="6372225" y="3305175"/>
            <a:ext cx="235529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Path Consistency Validation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7"/>
          <p:cNvSpPr txBox="1"/>
          <p:nvPr/>
        </p:nvSpPr>
        <p:spPr>
          <a:xfrm>
            <a:off x="6372225" y="3838575"/>
            <a:ext cx="2243137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ERW-IoT checks physical plausibility by comparing expected latency vs. hop count to catch "too good to be true" wormhole shortcuts.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7"/>
          <p:cNvSpPr txBox="1"/>
          <p:nvPr/>
        </p:nvSpPr>
        <p:spPr>
          <a:xfrm>
            <a:off x="9167812" y="3305175"/>
            <a:ext cx="235529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Feedback &amp; Alarm Trigger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7"/>
          <p:cNvSpPr txBox="1"/>
          <p:nvPr/>
        </p:nvSpPr>
        <p:spPr>
          <a:xfrm>
            <a:off x="9167812" y="3619500"/>
            <a:ext cx="224313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If suspicious, Threshold Reset logic flips the visual alarm to True and highlights the malicious path live on the Graph Topology Map.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7"/>
          <p:cNvSpPr txBox="1"/>
          <p:nvPr/>
        </p:nvSpPr>
        <p:spPr>
          <a:xfrm>
            <a:off x="2471737" y="2919412"/>
            <a:ext cx="5524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7"/>
          <p:cNvSpPr txBox="1"/>
          <p:nvPr/>
        </p:nvSpPr>
        <p:spPr>
          <a:xfrm>
            <a:off x="5334000" y="2919412"/>
            <a:ext cx="4857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6366F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MATLAB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7"/>
          <p:cNvSpPr txBox="1"/>
          <p:nvPr/>
        </p:nvSpPr>
        <p:spPr>
          <a:xfrm>
            <a:off x="8062912" y="2919412"/>
            <a:ext cx="5524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973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ERW-IOT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7"/>
          <p:cNvSpPr txBox="1"/>
          <p:nvPr/>
        </p:nvSpPr>
        <p:spPr>
          <a:xfrm>
            <a:off x="10639425" y="2919412"/>
            <a:ext cx="7715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EC48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7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Processing 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2" name="Google Shape;3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89112"/>
            <a:ext cx="5372100" cy="31750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189112"/>
            <a:ext cx="5372100" cy="31750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2503437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8"/>
          <p:cNvSpPr txBox="1"/>
          <p:nvPr/>
        </p:nvSpPr>
        <p:spPr>
          <a:xfrm>
            <a:off x="1247775" y="2484387"/>
            <a:ext cx="269033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LabVIEW Host Dashboard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97" name="Google Shape;39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4150" y="25034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8"/>
          <p:cNvSpPr txBox="1"/>
          <p:nvPr/>
        </p:nvSpPr>
        <p:spPr>
          <a:xfrm>
            <a:off x="6877050" y="2484387"/>
            <a:ext cx="375046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MATLAB Analysis Engine &amp; ERW-IoT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8"/>
          <p:cNvSpPr txBox="1"/>
          <p:nvPr/>
        </p:nvSpPr>
        <p:spPr>
          <a:xfrm>
            <a:off x="1095375" y="3065412"/>
            <a:ext cx="4562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Packet Logger (CSV Stream)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8"/>
          <p:cNvSpPr txBox="1"/>
          <p:nvPr/>
        </p:nvSpPr>
        <p:spPr>
          <a:xfrm>
            <a:off x="1047750" y="3284487"/>
            <a:ext cx="4610100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Functions as a high-throughput network flight recorder, storing raw telemetry and packet headers for analysis.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8"/>
          <p:cNvSpPr txBox="1"/>
          <p:nvPr/>
        </p:nvSpPr>
        <p:spPr>
          <a:xfrm>
            <a:off x="1095375" y="3777704"/>
            <a:ext cx="4562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Graph Topology 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8"/>
          <p:cNvSpPr txBox="1"/>
          <p:nvPr/>
        </p:nvSpPr>
        <p:spPr>
          <a:xfrm>
            <a:off x="1047750" y="3996779"/>
            <a:ext cx="4610100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Renders live graphical rendering of active node links and flags suspicious wormhole tunnels with high-visibility color overlays.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8"/>
          <p:cNvSpPr txBox="1"/>
          <p:nvPr/>
        </p:nvSpPr>
        <p:spPr>
          <a:xfrm>
            <a:off x="1057275" y="4489995"/>
            <a:ext cx="4600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 Alarm Panel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8"/>
          <p:cNvSpPr txBox="1"/>
          <p:nvPr/>
        </p:nvSpPr>
        <p:spPr>
          <a:xfrm>
            <a:off x="1047750" y="4709070"/>
            <a:ext cx="4610100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Binary status indicator (True/False state) providing clear and immediate visual feedback for human network monitoring.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8"/>
          <p:cNvSpPr txBox="1"/>
          <p:nvPr/>
        </p:nvSpPr>
        <p:spPr>
          <a:xfrm>
            <a:off x="6791325" y="3065412"/>
            <a:ext cx="4524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Mobility &amp; Fading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8"/>
          <p:cNvSpPr txBox="1"/>
          <p:nvPr/>
        </p:nvSpPr>
        <p:spPr>
          <a:xfrm>
            <a:off x="6705600" y="3284487"/>
            <a:ext cx="4610100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Simulates dynamic wireless link fading and node mobility patterns in real-time.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8"/>
          <p:cNvSpPr txBox="1"/>
          <p:nvPr/>
        </p:nvSpPr>
        <p:spPr>
          <a:xfrm>
            <a:off x="6753225" y="3777704"/>
            <a:ext cx="4562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ERW-IoT Consistency Check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8"/>
          <p:cNvSpPr txBox="1"/>
          <p:nvPr/>
        </p:nvSpPr>
        <p:spPr>
          <a:xfrm>
            <a:off x="6705600" y="3996779"/>
            <a:ext cx="4610100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innovation comparing hop count, round-trip delays, and physical limits to isolate wormhole tunnels.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8"/>
          <p:cNvSpPr txBox="1"/>
          <p:nvPr/>
        </p:nvSpPr>
        <p:spPr>
          <a:xfrm>
            <a:off x="6753225" y="4489995"/>
            <a:ext cx="4562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Threshold Reset Logic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8"/>
          <p:cNvSpPr txBox="1"/>
          <p:nvPr/>
        </p:nvSpPr>
        <p:spPr>
          <a:xfrm>
            <a:off x="6705600" y="4709070"/>
            <a:ext cx="4610100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Dynamically recalculates network baseline metrics to update system alarm thresholds cleanly.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11" name="Google Shape;41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308446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3796754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6300" y="4509045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34150" y="3084462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5" name="Google Shape;415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34150" y="3796754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6" name="Google Shape;416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34150" y="450904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8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Module Description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3" name="Google Shape;42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71762"/>
            <a:ext cx="2643187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6612" y="2671762"/>
            <a:ext cx="2643187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6" name="Google Shape;42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2671762"/>
            <a:ext cx="2643187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67787" y="2671762"/>
            <a:ext cx="2643187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" y="290988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76637" y="290988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0" name="Google Shape;43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2225" y="290988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1" name="Google Shape;43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67812" y="290988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9"/>
          <p:cNvSpPr txBox="1"/>
          <p:nvPr/>
        </p:nvSpPr>
        <p:spPr>
          <a:xfrm>
            <a:off x="781050" y="3405187"/>
            <a:ext cx="235529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Architecture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9"/>
          <p:cNvSpPr txBox="1"/>
          <p:nvPr/>
        </p:nvSpPr>
        <p:spPr>
          <a:xfrm>
            <a:off x="781050" y="3719512"/>
            <a:ext cx="224313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LabVIEW UI dashboard wireframing, CSV logging stream initialization, and LabVIEW-MATLAB co-simulation API setup.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9"/>
          <p:cNvSpPr txBox="1"/>
          <p:nvPr/>
        </p:nvSpPr>
        <p:spPr>
          <a:xfrm>
            <a:off x="3576637" y="3405187"/>
            <a:ext cx="235529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MATLAB Engine &amp; ERW-IoT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9"/>
          <p:cNvSpPr txBox="1"/>
          <p:nvPr/>
        </p:nvSpPr>
        <p:spPr>
          <a:xfrm>
            <a:off x="3576637" y="3938587"/>
            <a:ext cx="224313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Implementation of mobility/fading models, RPL DODAG simulator, and development of the ERW-IoT path validation algorithms.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9"/>
          <p:cNvSpPr txBox="1"/>
          <p:nvPr/>
        </p:nvSpPr>
        <p:spPr>
          <a:xfrm>
            <a:off x="6372225" y="3405187"/>
            <a:ext cx="235529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Co-Simulation &amp; Attack Injection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9"/>
          <p:cNvSpPr txBox="1"/>
          <p:nvPr/>
        </p:nvSpPr>
        <p:spPr>
          <a:xfrm>
            <a:off x="6372225" y="3938587"/>
            <a:ext cx="224313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Synthetic wormhole tunnel injection, tuning hop latency consistency bounds, and evaluating detection accuracy.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9"/>
          <p:cNvSpPr txBox="1"/>
          <p:nvPr/>
        </p:nvSpPr>
        <p:spPr>
          <a:xfrm>
            <a:off x="9167812" y="3405187"/>
            <a:ext cx="235529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 Integration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9"/>
          <p:cNvSpPr txBox="1"/>
          <p:nvPr/>
        </p:nvSpPr>
        <p:spPr>
          <a:xfrm>
            <a:off x="9167812" y="3719512"/>
            <a:ext cx="224313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 integration of topology map highlight overlays, visual alarm panel triggers, dynamic threshold resets, and documentation.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9"/>
          <p:cNvSpPr txBox="1"/>
          <p:nvPr/>
        </p:nvSpPr>
        <p:spPr>
          <a:xfrm>
            <a:off x="2319337" y="3019425"/>
            <a:ext cx="705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WEEK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9"/>
          <p:cNvSpPr txBox="1"/>
          <p:nvPr/>
        </p:nvSpPr>
        <p:spPr>
          <a:xfrm>
            <a:off x="5095875" y="3019425"/>
            <a:ext cx="723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WEEKS 2 - 3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9"/>
          <p:cNvSpPr txBox="1"/>
          <p:nvPr/>
        </p:nvSpPr>
        <p:spPr>
          <a:xfrm>
            <a:off x="7824787" y="3019425"/>
            <a:ext cx="790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WEEKS 4 - 5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9"/>
          <p:cNvSpPr txBox="1"/>
          <p:nvPr/>
        </p:nvSpPr>
        <p:spPr>
          <a:xfrm>
            <a:off x="10610850" y="3019425"/>
            <a:ext cx="800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WEEK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9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Implementation Timeline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0" name="Google Shape;4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0"/>
          <p:cNvSpPr txBox="1"/>
          <p:nvPr/>
        </p:nvSpPr>
        <p:spPr>
          <a:xfrm>
            <a:off x="581025" y="485775"/>
            <a:ext cx="11581500" cy="51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References</a:t>
            </a:r>
            <a:endParaRPr b="1" i="0" sz="2550" u="none" cap="none" strike="noStrik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t/>
            </a:r>
            <a:endParaRPr b="1" i="0" sz="2550" u="none" cap="none" strike="noStrik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t/>
            </a:r>
            <a:endParaRPr b="1" i="0" sz="2550" u="none" cap="none" strike="noStrik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t/>
            </a:r>
            <a:endParaRPr b="1" i="0" sz="2550" u="none" cap="none" strike="noStrik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905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Space Grotesk"/>
              <a:buChar char="●"/>
            </a:pPr>
            <a:r>
              <a:rPr b="1" i="0" lang="en-US" sz="2550" u="sng" cap="none" strike="noStrike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4"/>
              </a:rPr>
              <a:t>https://www.ni.com/en/shop/labview.html</a:t>
            </a:r>
            <a:endParaRPr b="1" i="0" sz="2550" u="none" cap="none" strike="noStrik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905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Space Grotesk"/>
              <a:buChar char="●"/>
            </a:pPr>
            <a:r>
              <a:rPr b="1" i="0" lang="en-US" sz="2550" u="sng" cap="none" strike="noStrike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5"/>
              </a:rPr>
              <a:t>https://www.ni.com/docs/en-US/bundle/labview-api-ref/page/functions/script-node.html</a:t>
            </a:r>
            <a:endParaRPr b="1" i="0" sz="2550" u="none" cap="none" strike="noStrik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905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Space Grotesk"/>
              <a:buChar char="●"/>
            </a:pPr>
            <a:r>
              <a:rPr b="1" i="0" lang="en-US" sz="2550" u="sng" cap="none" strike="noStrike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6"/>
              </a:rPr>
              <a:t>https://www.ietf.org/archive/id/draft-ietf-roll-rpl-13.html</a:t>
            </a:r>
            <a:endParaRPr b="1" i="0" sz="2550" u="none" cap="none" strike="noStrik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905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Space Grotesk"/>
              <a:buChar char="●"/>
            </a:pPr>
            <a:r>
              <a:rPr b="1" i="0" lang="en-US" sz="2550" u="sng" cap="none" strike="noStrike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7"/>
              </a:rPr>
              <a:t>https://doi.org/10.1016/j.comnet.2025.111968</a:t>
            </a:r>
            <a:endParaRPr b="1" i="0" sz="2550" u="none" cap="none" strike="noStrik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905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Space Grotesk"/>
              <a:buChar char="●"/>
            </a:pPr>
            <a:r>
              <a:rPr b="1" i="0" lang="en-US" sz="2550" u="sng" cap="none" strike="noStrike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8"/>
              </a:rPr>
              <a:t>https://doi.org/10.1016/j.cose.2020.101849</a:t>
            </a:r>
            <a:endParaRPr b="1" i="0" sz="2550" u="none" cap="none" strike="noStrik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905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Space Grotesk"/>
              <a:buChar char="●"/>
            </a:pPr>
            <a:r>
              <a:rPr b="1" i="0" lang="en-US" sz="2550" u="sng" cap="none" strike="noStrike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9"/>
              </a:rPr>
              <a:t>https://doi.org/10.3390/s22186765</a:t>
            </a:r>
            <a:endParaRPr b="1" i="0" sz="2550" u="none" cap="none" strike="noStrik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905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Space Grotesk"/>
              <a:buChar char="●"/>
            </a:pPr>
            <a:r>
              <a:rPr b="1" i="0" lang="en-US" sz="2550" u="sng" cap="none" strike="noStrike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10"/>
              </a:rPr>
              <a:t>https://doi.org/10.3390/info14090478</a:t>
            </a:r>
            <a:endParaRPr b="1" i="0" sz="2550" u="none" cap="none" strike="noStrik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905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Space Grotesk"/>
              <a:buChar char="●"/>
            </a:pPr>
            <a:r>
              <a:t/>
            </a:r>
            <a:endParaRPr b="1" i="0" sz="2550" u="none" cap="none" strike="noStrik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52" name="Google Shape;452;p20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