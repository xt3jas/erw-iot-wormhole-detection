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Plus Jakarta Sans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  <p:embeddedFont>
      <p:font typeface="Space Grotesk SemiBold"/>
      <p:regular r:id="rId24"/>
      <p:bold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MavenPro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SpaceGroteskSemiBold-regular.fntdata"/><Relationship Id="rId23" Type="http://schemas.openxmlformats.org/officeDocument/2006/relationships/font" Target="fonts/Maven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-regular.fntdata"/><Relationship Id="rId25" Type="http://schemas.openxmlformats.org/officeDocument/2006/relationships/font" Target="fonts/SpaceGroteskSemiBold-bold.fntdata"/><Relationship Id="rId27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6724502" y="0"/>
            <a:ext cx="5085303" cy="5118675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9155392" y="1742"/>
            <a:ext cx="3023192" cy="3468833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11" Type="http://schemas.openxmlformats.org/officeDocument/2006/relationships/image" Target="../media/image9.png"/><Relationship Id="rId10" Type="http://schemas.openxmlformats.org/officeDocument/2006/relationships/image" Target="../media/image3.png"/><Relationship Id="rId9" Type="http://schemas.openxmlformats.org/officeDocument/2006/relationships/image" Target="../media/image30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26.png"/><Relationship Id="rId13" Type="http://schemas.openxmlformats.org/officeDocument/2006/relationships/image" Target="../media/image28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9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9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5" Type="http://schemas.openxmlformats.org/officeDocument/2006/relationships/image" Target="../media/image47.png"/><Relationship Id="rId6" Type="http://schemas.openxmlformats.org/officeDocument/2006/relationships/image" Target="../media/image31.png"/><Relationship Id="rId7" Type="http://schemas.openxmlformats.org/officeDocument/2006/relationships/image" Target="../media/image34.png"/><Relationship Id="rId8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0.png"/><Relationship Id="rId5" Type="http://schemas.openxmlformats.org/officeDocument/2006/relationships/image" Target="../media/image46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hyperlink" Target="https://doi.org/10.3390/info14090478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hyperlink" Target="https://www.ni.com/en/shop/labview.html" TargetMode="External"/><Relationship Id="rId9" Type="http://schemas.openxmlformats.org/officeDocument/2006/relationships/hyperlink" Target="https://doi.org/10.3390/s22186765" TargetMode="External"/><Relationship Id="rId5" Type="http://schemas.openxmlformats.org/officeDocument/2006/relationships/hyperlink" Target="https://www.ni.com/docs/en-US/bundle/labview-api-ref/page/functions/script-node.html" TargetMode="External"/><Relationship Id="rId6" Type="http://schemas.openxmlformats.org/officeDocument/2006/relationships/hyperlink" Target="https://www.ietf.org/archive/id/draft-ietf-roll-rpl-13.html" TargetMode="External"/><Relationship Id="rId7" Type="http://schemas.openxmlformats.org/officeDocument/2006/relationships/hyperlink" Target="https://doi.org/10.1016/j.comnet.2025.111968" TargetMode="External"/><Relationship Id="rId8" Type="http://schemas.openxmlformats.org/officeDocument/2006/relationships/hyperlink" Target="https://doi.org/10.1016/j.cose.2020.1018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3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9075" y="1789807"/>
            <a:ext cx="413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3225" y="4687192"/>
            <a:ext cx="20669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2550" y="4687192"/>
            <a:ext cx="2095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0450" y="4687192"/>
            <a:ext cx="18383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 txBox="1"/>
          <p:nvPr/>
        </p:nvSpPr>
        <p:spPr>
          <a:xfrm>
            <a:off x="1095375" y="2361307"/>
            <a:ext cx="10001250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ERW-IoT: Real-Time Wormhole Attack Detection Engine</a:t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2190750" y="3734692"/>
            <a:ext cx="781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Shravan 24BEI0104</a:t>
            </a:r>
            <a:endParaRPr sz="15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Tejas 24BEI0093</a:t>
            </a:r>
            <a:endParaRPr sz="15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Eklavya 24BEI0084</a:t>
            </a:r>
            <a:endParaRPr sz="15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84" name="Google Shape;28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29100" y="1904107"/>
            <a:ext cx="147637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3250" y="4811017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62575" y="481101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10475" y="4811017"/>
            <a:ext cx="1714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90662"/>
            <a:ext cx="53244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/>
          <p:nvPr/>
        </p:nvSpPr>
        <p:spPr>
          <a:xfrm>
            <a:off x="581025" y="1528762"/>
            <a:ext cx="53244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581025" y="2690812"/>
            <a:ext cx="53244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81025" y="3852862"/>
            <a:ext cx="53244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81025" y="5014912"/>
            <a:ext cx="53244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8" name="Google Shape;2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1614487"/>
            <a:ext cx="5076825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4"/>
          <p:cNvSpPr/>
          <p:nvPr/>
        </p:nvSpPr>
        <p:spPr>
          <a:xfrm>
            <a:off x="581025" y="2528887"/>
            <a:ext cx="5324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1104900" y="1690687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ERW-IoT Engine Integration: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Introduce ERW-IoT to provide real-time wormhole detection via lightweight path consistency checks without heavy cryptographic overhead.</a:t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581025" y="3690937"/>
            <a:ext cx="5324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>
            <a:off x="1104900" y="2852737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Wormhole Attack Mitigation: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Identify deceptive shortcut routes created by covert attacker tunnels linking geographically distant network nodes.</a:t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581025" y="4852987"/>
            <a:ext cx="5324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1104900" y="4014787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Consistency Bounds: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Evaluate hop count vs transmission latency bounds to determine if proposed routes make physical sense.</a:t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581025" y="6015037"/>
            <a:ext cx="5324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1104900" y="5176837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Closed-Loop Operator Dashboard: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Provide immediate visual alarm notifications and topology map updates for human operators upon anomaly detection.</a:t>
            </a:r>
            <a:endParaRPr/>
          </a:p>
        </p:txBody>
      </p:sp>
      <p:pic>
        <p:nvPicPr>
          <p:cNvPr descr="image.png" id="307" name="Google Shape;3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1704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2867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402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51911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Aim &amp; Objectives</a:t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 txBox="1"/>
          <p:nvPr/>
        </p:nvSpPr>
        <p:spPr>
          <a:xfrm>
            <a:off x="581025" y="485775"/>
            <a:ext cx="57907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Overall Block Diagram</a:t>
            </a:r>
            <a:endParaRPr/>
          </a:p>
        </p:txBody>
      </p:sp>
      <p:pic>
        <p:nvPicPr>
          <p:cNvPr descr="image.png" id="320" name="Google Shape;3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581025" y="2119312"/>
            <a:ext cx="55149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581025" y="3281362"/>
            <a:ext cx="55149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581025" y="4443412"/>
            <a:ext cx="5514975" cy="1009650"/>
          </a:xfrm>
          <a:prstGeom prst="roundRect">
            <a:avLst>
              <a:gd fmla="val 11320" name="adj"/>
            </a:avLst>
          </a:prstGeom>
          <a:solidFill>
            <a:srgbClr val="1E293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581025" y="3119437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 txBox="1"/>
          <p:nvPr/>
        </p:nvSpPr>
        <p:spPr>
          <a:xfrm>
            <a:off x="1104900" y="2281237"/>
            <a:ext cx="47910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LabVIEW Front-End Host: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Captures live CSV telemetry via Packet Logger, displays real-time topology map, and controls visual alarm state.</a:t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581025" y="4281487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1152525" y="3443287"/>
            <a:ext cx="4743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MATLAB Engine Brain: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Runs mobility/fading models, evaluates candidate path changes, and updates dynamic threshold reset logic.</a:t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581025" y="5443537"/>
            <a:ext cx="5514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1104900" y="4605337"/>
            <a:ext cx="47910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ERW-IoT Module: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Intercepts path reroutes to perform physical consistency checks before updating alert thresholds or topology maps.</a:t>
            </a:r>
            <a:endParaRPr/>
          </a:p>
        </p:txBody>
      </p:sp>
      <p:pic>
        <p:nvPicPr>
          <p:cNvPr descr="image.png" id="331" name="Google Shape;3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22955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4575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46196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8825"/>
            <a:ext cx="5419725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028825"/>
            <a:ext cx="5419725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71912"/>
            <a:ext cx="5419725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871912"/>
            <a:ext cx="5419725" cy="1652587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6"/>
          <p:cNvSpPr txBox="1"/>
          <p:nvPr/>
        </p:nvSpPr>
        <p:spPr>
          <a:xfrm>
            <a:off x="819150" y="2800350"/>
            <a:ext cx="4943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Wireless networks rely on dynamic routing tables containing destination address, next hop, and distance metrics to continuously establish optimal packet forwarding paths across active nodes.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6429375" y="2800350"/>
            <a:ext cx="4943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Includes propagation delay, queueing delay, and processing time. In legitimate hop-by-hop wireless links, cumulative latency scales proportionally with the physical distance and hop count.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819150" y="4643437"/>
            <a:ext cx="4943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Destination-Oriented Directed Acyclic Graph structured by RPL protocol for low-power and lossy networks (6LoWPAN). Nodes dynamically select preferred parent nodes based on rank and link cost.</a:t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6429375" y="4643437"/>
            <a:ext cx="4943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Adversaries tunnel packets between distant network areas through an out-of-band link, creating an illusion of a short high-quality route to disrupt routing trees and intercept sensitive traffic.</a:t>
            </a:r>
            <a:endParaRPr/>
          </a:p>
        </p:txBody>
      </p:sp>
      <p:pic>
        <p:nvPicPr>
          <p:cNvPr descr="image.png" id="347" name="Google Shape;3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2669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6"/>
          <p:cNvSpPr txBox="1"/>
          <p:nvPr/>
        </p:nvSpPr>
        <p:spPr>
          <a:xfrm>
            <a:off x="1371600" y="2352675"/>
            <a:ext cx="275034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Computer Networks &amp; Tables</a:t>
            </a:r>
            <a:endParaRPr/>
          </a:p>
        </p:txBody>
      </p:sp>
      <p:pic>
        <p:nvPicPr>
          <p:cNvPr descr="image.png" id="349" name="Google Shape;3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75" y="22669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6"/>
          <p:cNvSpPr txBox="1"/>
          <p:nvPr/>
        </p:nvSpPr>
        <p:spPr>
          <a:xfrm>
            <a:off x="6981825" y="2352675"/>
            <a:ext cx="242030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Network Latency Bounds</a:t>
            </a:r>
            <a:endParaRPr/>
          </a:p>
        </p:txBody>
      </p:sp>
      <p:pic>
        <p:nvPicPr>
          <p:cNvPr descr="image.png" id="351" name="Google Shape;3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1100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6"/>
          <p:cNvSpPr txBox="1"/>
          <p:nvPr/>
        </p:nvSpPr>
        <p:spPr>
          <a:xfrm>
            <a:off x="1371600" y="4195762"/>
            <a:ext cx="17502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DODAG in RPL / IoT</a:t>
            </a:r>
            <a:endParaRPr/>
          </a:p>
        </p:txBody>
      </p:sp>
      <p:pic>
        <p:nvPicPr>
          <p:cNvPr descr="image.png" id="353" name="Google Shape;35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75" y="41100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6"/>
          <p:cNvSpPr txBox="1"/>
          <p:nvPr/>
        </p:nvSpPr>
        <p:spPr>
          <a:xfrm>
            <a:off x="6981825" y="4195762"/>
            <a:ext cx="231028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Wormhole Attacks in IoT</a:t>
            </a:r>
            <a:endParaRPr/>
          </a:p>
        </p:txBody>
      </p:sp>
      <p:pic>
        <p:nvPicPr>
          <p:cNvPr descr="image.png" id="355" name="Google Shape;35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9637" y="238125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3200" y="23812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9162" y="422433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43675" y="42243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6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Theoretical Background</a:t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71750"/>
            <a:ext cx="26431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6612" y="2571750"/>
            <a:ext cx="26431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571750"/>
            <a:ext cx="26431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7787" y="2571750"/>
            <a:ext cx="26431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2809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76637" y="2809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2225" y="2809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67812" y="280987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7"/>
          <p:cNvSpPr txBox="1"/>
          <p:nvPr/>
        </p:nvSpPr>
        <p:spPr>
          <a:xfrm>
            <a:off x="781050" y="3305175"/>
            <a:ext cx="23552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Packet Logging &amp; Telemetry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781050" y="3838575"/>
            <a:ext cx="2243137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Packet Logger records continuous raw wireless telemetry, formatting network events into a CSV stream passed into the processing pipeline.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3576637" y="3305175"/>
            <a:ext cx="23552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Fading &amp; Path Evaluation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3576637" y="3619500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Mobility model calculates link fading dynamics as nodes move, triggering Path Change Evaluation to suggest updated optimal routes.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6372225" y="3305175"/>
            <a:ext cx="23552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 Consistency Validation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6372225" y="3838575"/>
            <a:ext cx="2243137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ERW-IoT checks physical plausibility by comparing expected latency vs. hop count to catch "too good to be true" wormhole shortcuts.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9167812" y="3305175"/>
            <a:ext cx="23552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&amp; Alarm Trigger</a:t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9167812" y="3619500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suspicious, Threshold Reset logic flips the visual alarm to True and highlights the malicious path live on the Graph Topology Map.</a:t>
            </a:r>
            <a:endParaRPr/>
          </a:p>
        </p:txBody>
      </p:sp>
      <p:sp>
        <p:nvSpPr>
          <p:cNvPr id="382" name="Google Shape;382;p17"/>
          <p:cNvSpPr txBox="1"/>
          <p:nvPr/>
        </p:nvSpPr>
        <p:spPr>
          <a:xfrm>
            <a:off x="2471737" y="2919412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LABVIEW</a:t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>
            <a:off x="5334000" y="2919412"/>
            <a:ext cx="4857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MATLAB</a:t>
            </a:r>
            <a:endParaRPr/>
          </a:p>
        </p:txBody>
      </p:sp>
      <p:sp>
        <p:nvSpPr>
          <p:cNvPr id="384" name="Google Shape;384;p17"/>
          <p:cNvSpPr txBox="1"/>
          <p:nvPr/>
        </p:nvSpPr>
        <p:spPr>
          <a:xfrm>
            <a:off x="8062912" y="2919412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973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ERW-IOT</a:t>
            </a:r>
            <a:endParaRPr/>
          </a:p>
        </p:txBody>
      </p:sp>
      <p:sp>
        <p:nvSpPr>
          <p:cNvPr id="385" name="Google Shape;385;p17"/>
          <p:cNvSpPr txBox="1"/>
          <p:nvPr/>
        </p:nvSpPr>
        <p:spPr>
          <a:xfrm>
            <a:off x="10639425" y="2919412"/>
            <a:ext cx="77152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</a:t>
            </a:r>
            <a:endParaRPr/>
          </a:p>
        </p:txBody>
      </p:sp>
      <p:sp>
        <p:nvSpPr>
          <p:cNvPr id="386" name="Google Shape;386;p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Processing Methodology</a:t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89112"/>
            <a:ext cx="5372100" cy="3175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189112"/>
            <a:ext cx="5372100" cy="3175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50343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8"/>
          <p:cNvSpPr txBox="1"/>
          <p:nvPr/>
        </p:nvSpPr>
        <p:spPr>
          <a:xfrm>
            <a:off x="1247775" y="2484387"/>
            <a:ext cx="26903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LabVIEW Host Dashboard</a:t>
            </a:r>
            <a:endParaRPr/>
          </a:p>
        </p:txBody>
      </p:sp>
      <p:pic>
        <p:nvPicPr>
          <p:cNvPr descr="image.png" id="397" name="Google Shape;39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25034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8"/>
          <p:cNvSpPr txBox="1"/>
          <p:nvPr/>
        </p:nvSpPr>
        <p:spPr>
          <a:xfrm>
            <a:off x="6877050" y="2484387"/>
            <a:ext cx="375046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MATLAB Analysis Engine &amp; ERW-IoT</a:t>
            </a:r>
            <a:endParaRPr/>
          </a:p>
        </p:txBody>
      </p:sp>
      <p:sp>
        <p:nvSpPr>
          <p:cNvPr id="399" name="Google Shape;399;p18"/>
          <p:cNvSpPr txBox="1"/>
          <p:nvPr/>
        </p:nvSpPr>
        <p:spPr>
          <a:xfrm>
            <a:off x="1095375" y="3065412"/>
            <a:ext cx="4562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Packet Logger (CSV Stream)</a:t>
            </a:r>
            <a:endParaRPr/>
          </a:p>
        </p:txBody>
      </p:sp>
      <p:sp>
        <p:nvSpPr>
          <p:cNvPr id="400" name="Google Shape;400;p18"/>
          <p:cNvSpPr txBox="1"/>
          <p:nvPr/>
        </p:nvSpPr>
        <p:spPr>
          <a:xfrm>
            <a:off x="1047750" y="3284487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Functions as a high-throughput network flight recorder, storing raw telemetry and packet headers for analysis.</a:t>
            </a:r>
            <a:endParaRPr/>
          </a:p>
        </p:txBody>
      </p:sp>
      <p:sp>
        <p:nvSpPr>
          <p:cNvPr id="401" name="Google Shape;401;p18"/>
          <p:cNvSpPr txBox="1"/>
          <p:nvPr/>
        </p:nvSpPr>
        <p:spPr>
          <a:xfrm>
            <a:off x="1095375" y="3777704"/>
            <a:ext cx="4562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Graph Topology Map</a:t>
            </a:r>
            <a:endParaRPr/>
          </a:p>
        </p:txBody>
      </p:sp>
      <p:sp>
        <p:nvSpPr>
          <p:cNvPr id="402" name="Google Shape;402;p18"/>
          <p:cNvSpPr txBox="1"/>
          <p:nvPr/>
        </p:nvSpPr>
        <p:spPr>
          <a:xfrm>
            <a:off x="1047750" y="3996779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Renders live graphical rendering of active node links and flags suspicious wormhole tunnels with high-visibility color overlays.</a:t>
            </a:r>
            <a:endParaRPr/>
          </a:p>
        </p:txBody>
      </p:sp>
      <p:sp>
        <p:nvSpPr>
          <p:cNvPr id="403" name="Google Shape;403;p18"/>
          <p:cNvSpPr txBox="1"/>
          <p:nvPr/>
        </p:nvSpPr>
        <p:spPr>
          <a:xfrm>
            <a:off x="1057275" y="4489995"/>
            <a:ext cx="4600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Alarm Panel</a:t>
            </a:r>
            <a:endParaRPr/>
          </a:p>
        </p:txBody>
      </p:sp>
      <p:sp>
        <p:nvSpPr>
          <p:cNvPr id="404" name="Google Shape;404;p18"/>
          <p:cNvSpPr txBox="1"/>
          <p:nvPr/>
        </p:nvSpPr>
        <p:spPr>
          <a:xfrm>
            <a:off x="1047750" y="4709070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Binary status indicator (True/False state) providing clear and immediate visual feedback for human network monitoring.</a:t>
            </a:r>
            <a:endParaRPr/>
          </a:p>
        </p:txBody>
      </p:sp>
      <p:sp>
        <p:nvSpPr>
          <p:cNvPr id="405" name="Google Shape;405;p18"/>
          <p:cNvSpPr txBox="1"/>
          <p:nvPr/>
        </p:nvSpPr>
        <p:spPr>
          <a:xfrm>
            <a:off x="6791325" y="3065412"/>
            <a:ext cx="4524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Mobility &amp; Fading Model</a:t>
            </a:r>
            <a:endParaRPr/>
          </a:p>
        </p:txBody>
      </p:sp>
      <p:sp>
        <p:nvSpPr>
          <p:cNvPr id="406" name="Google Shape;406;p18"/>
          <p:cNvSpPr txBox="1"/>
          <p:nvPr/>
        </p:nvSpPr>
        <p:spPr>
          <a:xfrm>
            <a:off x="6705600" y="3284487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Simulates dynamic wireless link fading and node mobility patterns in real-time.</a:t>
            </a:r>
            <a:endParaRPr/>
          </a:p>
        </p:txBody>
      </p:sp>
      <p:sp>
        <p:nvSpPr>
          <p:cNvPr id="407" name="Google Shape;407;p18"/>
          <p:cNvSpPr txBox="1"/>
          <p:nvPr/>
        </p:nvSpPr>
        <p:spPr>
          <a:xfrm>
            <a:off x="6753225" y="3777704"/>
            <a:ext cx="4562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ERW-IoT Consistency Check</a:t>
            </a:r>
            <a:endParaRPr/>
          </a:p>
        </p:txBody>
      </p:sp>
      <p:sp>
        <p:nvSpPr>
          <p:cNvPr id="408" name="Google Shape;408;p18"/>
          <p:cNvSpPr txBox="1"/>
          <p:nvPr/>
        </p:nvSpPr>
        <p:spPr>
          <a:xfrm>
            <a:off x="6705600" y="3996779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innovation comparing hop count, round-trip delays, and physical limits to isolate wormhole tunnels.</a:t>
            </a:r>
            <a:endParaRPr/>
          </a:p>
        </p:txBody>
      </p:sp>
      <p:sp>
        <p:nvSpPr>
          <p:cNvPr id="409" name="Google Shape;409;p18"/>
          <p:cNvSpPr txBox="1"/>
          <p:nvPr/>
        </p:nvSpPr>
        <p:spPr>
          <a:xfrm>
            <a:off x="6753225" y="4489995"/>
            <a:ext cx="4562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Threshold Reset Logic</a:t>
            </a:r>
            <a:endParaRPr/>
          </a:p>
        </p:txBody>
      </p:sp>
      <p:sp>
        <p:nvSpPr>
          <p:cNvPr id="410" name="Google Shape;410;p18"/>
          <p:cNvSpPr txBox="1"/>
          <p:nvPr/>
        </p:nvSpPr>
        <p:spPr>
          <a:xfrm>
            <a:off x="6705600" y="4709070"/>
            <a:ext cx="461010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Dynamically recalculates network baseline metrics to update system alarm thresholds cleanly.</a:t>
            </a:r>
            <a:endParaRPr/>
          </a:p>
        </p:txBody>
      </p:sp>
      <p:pic>
        <p:nvPicPr>
          <p:cNvPr descr="image.png" id="411" name="Google Shape;41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08446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379675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4509045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3084462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34150" y="379675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34150" y="450904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Module Description</a:t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3" name="Google Shape;4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71762"/>
            <a:ext cx="2643187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6612" y="2671762"/>
            <a:ext cx="2643187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671762"/>
            <a:ext cx="2643187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7787" y="2671762"/>
            <a:ext cx="2643187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2909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76637" y="2909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2225" y="2909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67812" y="290988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9"/>
          <p:cNvSpPr txBox="1"/>
          <p:nvPr/>
        </p:nvSpPr>
        <p:spPr>
          <a:xfrm>
            <a:off x="781050" y="3405187"/>
            <a:ext cx="23552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Design</a:t>
            </a:r>
            <a:endParaRPr/>
          </a:p>
        </p:txBody>
      </p:sp>
      <p:sp>
        <p:nvSpPr>
          <p:cNvPr id="433" name="Google Shape;433;p19"/>
          <p:cNvSpPr txBox="1"/>
          <p:nvPr/>
        </p:nvSpPr>
        <p:spPr>
          <a:xfrm>
            <a:off x="781050" y="3719512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LabVIEW UI dashboard wireframing, CSV logging stream initialization, and LabVIEW-MATLAB co-simulation API setup.</a:t>
            </a:r>
            <a:endParaRPr/>
          </a:p>
        </p:txBody>
      </p:sp>
      <p:sp>
        <p:nvSpPr>
          <p:cNvPr id="434" name="Google Shape;434;p19"/>
          <p:cNvSpPr txBox="1"/>
          <p:nvPr/>
        </p:nvSpPr>
        <p:spPr>
          <a:xfrm>
            <a:off x="3576637" y="3405187"/>
            <a:ext cx="23552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MATLAB Engine &amp; ERW-IoT</a:t>
            </a:r>
            <a:endParaRPr/>
          </a:p>
        </p:txBody>
      </p:sp>
      <p:sp>
        <p:nvSpPr>
          <p:cNvPr id="435" name="Google Shape;435;p19"/>
          <p:cNvSpPr txBox="1"/>
          <p:nvPr/>
        </p:nvSpPr>
        <p:spPr>
          <a:xfrm>
            <a:off x="3576637" y="3938587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of mobility/fading models, RPL DODAG simulator, and development of the ERW-IoT path validation algorithms.</a:t>
            </a:r>
            <a:endParaRPr/>
          </a:p>
        </p:txBody>
      </p:sp>
      <p:sp>
        <p:nvSpPr>
          <p:cNvPr id="436" name="Google Shape;436;p19"/>
          <p:cNvSpPr txBox="1"/>
          <p:nvPr/>
        </p:nvSpPr>
        <p:spPr>
          <a:xfrm>
            <a:off x="6372225" y="3405187"/>
            <a:ext cx="235529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Co-Simulation &amp; Attack Injection</a:t>
            </a:r>
            <a:endParaRPr/>
          </a:p>
        </p:txBody>
      </p:sp>
      <p:sp>
        <p:nvSpPr>
          <p:cNvPr id="437" name="Google Shape;437;p19"/>
          <p:cNvSpPr txBox="1"/>
          <p:nvPr/>
        </p:nvSpPr>
        <p:spPr>
          <a:xfrm>
            <a:off x="6372225" y="3938587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Synthetic wormhole tunnel injection, tuning hop latency consistency bounds, and evaluating detection accuracy.</a:t>
            </a:r>
            <a:endParaRPr/>
          </a:p>
        </p:txBody>
      </p:sp>
      <p:sp>
        <p:nvSpPr>
          <p:cNvPr id="438" name="Google Shape;438;p19"/>
          <p:cNvSpPr txBox="1"/>
          <p:nvPr/>
        </p:nvSpPr>
        <p:spPr>
          <a:xfrm>
            <a:off x="9167812" y="3405187"/>
            <a:ext cx="23552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Integration</a:t>
            </a:r>
            <a:endParaRPr/>
          </a:p>
        </p:txBody>
      </p:sp>
      <p:sp>
        <p:nvSpPr>
          <p:cNvPr id="439" name="Google Shape;439;p19"/>
          <p:cNvSpPr txBox="1"/>
          <p:nvPr/>
        </p:nvSpPr>
        <p:spPr>
          <a:xfrm>
            <a:off x="9167812" y="3719512"/>
            <a:ext cx="22431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integration of topology map highlight overlays, visual alarm panel triggers, dynamic threshold resets, and documentation.</a:t>
            </a:r>
            <a:endParaRPr/>
          </a:p>
        </p:txBody>
      </p:sp>
      <p:sp>
        <p:nvSpPr>
          <p:cNvPr id="440" name="Google Shape;440;p19"/>
          <p:cNvSpPr txBox="1"/>
          <p:nvPr/>
        </p:nvSpPr>
        <p:spPr>
          <a:xfrm>
            <a:off x="2319337" y="3019425"/>
            <a:ext cx="7048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WEEKS 1 - 3</a:t>
            </a:r>
            <a:endParaRPr/>
          </a:p>
        </p:txBody>
      </p:sp>
      <p:sp>
        <p:nvSpPr>
          <p:cNvPr id="441" name="Google Shape;441;p19"/>
          <p:cNvSpPr txBox="1"/>
          <p:nvPr/>
        </p:nvSpPr>
        <p:spPr>
          <a:xfrm>
            <a:off x="5095875" y="3019425"/>
            <a:ext cx="7239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WEEKS 4 - 7</a:t>
            </a:r>
            <a:endParaRPr/>
          </a:p>
        </p:txBody>
      </p:sp>
      <p:sp>
        <p:nvSpPr>
          <p:cNvPr id="442" name="Google Shape;442;p19"/>
          <p:cNvSpPr txBox="1"/>
          <p:nvPr/>
        </p:nvSpPr>
        <p:spPr>
          <a:xfrm>
            <a:off x="7824787" y="3019425"/>
            <a:ext cx="7905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WEEKS 8 - 10</a:t>
            </a:r>
            <a:endParaRPr/>
          </a:p>
        </p:txBody>
      </p:sp>
      <p:sp>
        <p:nvSpPr>
          <p:cNvPr id="443" name="Google Shape;443;p19"/>
          <p:cNvSpPr txBox="1"/>
          <p:nvPr/>
        </p:nvSpPr>
        <p:spPr>
          <a:xfrm>
            <a:off x="10610850" y="3019425"/>
            <a:ext cx="8001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WEEKS 11 - 12</a:t>
            </a:r>
            <a:endParaRPr/>
          </a:p>
        </p:txBody>
      </p:sp>
      <p:sp>
        <p:nvSpPr>
          <p:cNvPr id="444" name="Google Shape;444;p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Implementation Timeline</a:t>
            </a: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0" name="Google Shape;4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0"/>
          <p:cNvSpPr txBox="1"/>
          <p:nvPr/>
        </p:nvSpPr>
        <p:spPr>
          <a:xfrm>
            <a:off x="581025" y="485775"/>
            <a:ext cx="11581500" cy="51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References</a:t>
            </a:r>
            <a:endParaRPr b="1" i="0" sz="255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lang="en-US" sz="255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4"/>
              </a:rPr>
              <a:t>https://www.ni.com/en/shop/labview.html</a:t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lang="en-US" sz="255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5"/>
              </a:rPr>
              <a:t>https://www.ni.com/docs/en-US/bundle/labview-api-ref/page/functions/script-node.html</a:t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lang="en-US" sz="255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6"/>
              </a:rPr>
              <a:t>https://www.ietf.org/archive/id/draft-ietf-roll-rpl-13.html</a:t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lang="en-US" sz="255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7"/>
              </a:rPr>
              <a:t>https://doi.org/10.1016/j.comnet.2025.111968</a:t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lang="en-US" sz="255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8"/>
              </a:rPr>
              <a:t>https://doi.org/10.1016/j.cose.2020.101849</a:t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lang="en-US" sz="255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9"/>
              </a:rPr>
              <a:t>https://doi.org/10.3390/s22186765</a:t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rPr b="1" lang="en-US" sz="255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10"/>
              </a:rPr>
              <a:t>https://doi.org/10.3390/info14090478</a:t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905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Space Grotesk"/>
              <a:buChar char="●"/>
            </a:pPr>
            <a:r>
              <a:t/>
            </a:r>
            <a:endParaRPr b="1" sz="255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581025" y="895350"/>
            <a:ext cx="5715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